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9B2749-7C37-8653-5A25-F5A0763E4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1E60DCC-607F-47AB-EBBB-864679EB0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228ADE-67F2-043C-7889-45EA4599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4B4D2E-FDD2-C62A-045D-52972FB4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71BE55-2DDD-1BC4-459C-E217480A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468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63BBC0-07FD-12C2-BB83-EB9568F2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FA961C-D400-3C6B-1A4B-DB0D37AA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934560-009D-1702-B8C0-44CB6489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86C1E0-C827-B6B8-4055-4E5BF2E7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438693-79B7-3808-4873-A24F14D2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896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E966C4-5D0E-E6B3-5339-D2695ED5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AD074F-AA76-B1A0-CCD5-69D5B065E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A50414-69E5-4233-2038-C50584C8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3797D8-4E31-2796-1695-1CF1D1A5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17801B-CF7E-D150-0C7F-934785DC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76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4A1CD4-696F-0F0D-93C1-62D2397B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15B3A1-E70E-DA84-D4AC-D518908A4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CF818A-187D-4AB9-08C1-E80D3370A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2FCC43-40D1-EB98-CCBA-E6FE0B13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E5EB1E-A00C-163C-7935-F8A3082D9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523BD2-E538-AF85-D496-ED5C4EAF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122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A91BF8-FF55-F9F3-E40F-8694A28F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515FA87-0197-5919-86BE-DF319B8C1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625090-2DA2-A34A-E77E-D5321EEE8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7255548-19C2-C414-0740-E5707F841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E201426-B98C-F152-B56D-BAB8E429B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33D5EB8-5EC0-EDBF-CC8C-DDC592BF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F6422DD-5D53-86E3-0520-7A66F768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FEB4680-CCD3-EE13-572B-5574D498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131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64A8AB-A7E7-FB61-86F3-6CE58357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EB55E51-95F9-88BB-73E2-FCF1940F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2CD9D66-4B31-DB18-BC7C-EE380B56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56CF117-3253-A943-A27D-7CE4F4F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513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4CA61E9-18E3-7F3C-0938-E4414294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A0E02A0-5F7E-7143-4F2D-0653B0E0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25CD65-2029-7C10-E06E-607DBEA6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61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859EDE-D31A-8269-3160-F6335EF9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EFECC0-466A-1DD5-B2E8-A0D72BAFE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6CBCDAB-F3C8-DE99-F197-7BC63CDA8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AEDCE16-9EC6-E3C8-00EC-51376AB2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EC733E1-4D09-8509-0462-C98BDB0D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B3CC3FF-7B4A-31FC-3BE9-642BBD64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233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BC9BEA-22A4-0984-6A31-BD7F792E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64C14A0-5FAA-2EE2-B0E2-AF966FA24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BC3A7DB-CFBE-B4E2-5F32-78D3DAA0C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915558A-1BEA-1647-717B-E8A0EA71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45B6E9A-68A4-24C5-11D1-A0EE5545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85DB26-27B8-59B8-D398-E13A88ED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326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58C850-D168-BE59-4C9B-ED2504F2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F5F3D5-0B92-6205-A2C2-C09943EEC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5B1FB2-143D-C997-7266-AF926767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CD846C-6599-0031-DA00-26844196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2CAA1E-CE8F-9949-3F64-15240876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20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E4C06D1-00B1-FF0E-B3E5-0E1431C4D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F5A5F21-9A09-259F-49CD-31793217D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6510FB-524D-0381-0D4A-03D3E203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807D4F-402D-843A-BE01-2C1FDAFA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B18365-2D9F-C7B8-1AB9-499C162C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735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61F91E-486B-79B3-C481-35B1FAF8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3387BA-E345-A290-67DF-F27263625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0DB41F-38D2-16A1-8811-76A9114ED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E79A7-7978-4803-9374-F65D823B3FCF}" type="datetimeFigureOut">
              <a:rPr lang="it-IT" smtClean="0"/>
              <a:t>13/09/2024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E1F9CC-04DF-BD47-5789-E3CE1BE3F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CB6A0A-473E-7222-0266-F9ED53CF1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42E0F-19B1-4ACF-9668-98C2E30F7F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553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F7160438-BE5F-F9CB-9257-3237BC4B0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787" y="1741337"/>
            <a:ext cx="5448730" cy="2387918"/>
          </a:xfrm>
        </p:spPr>
        <p:txBody>
          <a:bodyPr anchor="b">
            <a:normAutofit/>
          </a:bodyPr>
          <a:lstStyle/>
          <a:p>
            <a:r>
              <a:rPr lang="it-IT" sz="3600">
                <a:solidFill>
                  <a:schemeClr val="tx2"/>
                </a:solidFill>
              </a:rPr>
              <a:t>Dependability evaluation of two solutions implementing a publisher-subscriber primitive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FB0ED32-17C1-D148-5AFC-ACCE3B986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161" y="4200522"/>
            <a:ext cx="5449982" cy="682079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tx2"/>
                </a:solidFill>
              </a:rPr>
              <a:t>Marco Alberti, Cristian Andrei Mai Mihai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26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4376C1-8E95-8F34-F277-EDE2AC82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>
                <a:solidFill>
                  <a:schemeClr val="tx2"/>
                </a:solidFill>
              </a:rPr>
              <a:t>The task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DD0CCB-6BE8-A513-0177-53509BAB2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it-IT" sz="1800">
                <a:solidFill>
                  <a:schemeClr val="tx2"/>
                </a:solidFill>
              </a:rPr>
              <a:t>To implement two pub/sub primitives using different solutions:</a:t>
            </a:r>
          </a:p>
          <a:p>
            <a:r>
              <a:rPr lang="it-IT" sz="1800">
                <a:solidFill>
                  <a:schemeClr val="tx2"/>
                </a:solidFill>
              </a:rPr>
              <a:t>The first one is with Rabbitmq</a:t>
            </a:r>
          </a:p>
          <a:p>
            <a:r>
              <a:rPr lang="it-IT" sz="1800">
                <a:solidFill>
                  <a:schemeClr val="tx2"/>
                </a:solidFill>
              </a:rPr>
              <a:t>The second one is with Zeromq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357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5">
            <a:extLst>
              <a:ext uri="{FF2B5EF4-FFF2-40B4-BE49-F238E27FC236}">
                <a16:creationId xmlns:a16="http://schemas.microsoft.com/office/drawing/2014/main" id="{17BDD930-0E65-490A-9CE5-554C357C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7">
            <a:extLst>
              <a:ext uri="{FF2B5EF4-FFF2-40B4-BE49-F238E27FC236}">
                <a16:creationId xmlns:a16="http://schemas.microsoft.com/office/drawing/2014/main" id="{3A912C67-99A1-4956-8F68-1846C2177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03E7BA3-F9DA-FE94-E3C6-09E78A0A5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398" cy="1299411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tx2"/>
                </a:solidFill>
              </a:rPr>
              <a:t>What is publisher-subscriber primitive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459ACA-99D6-F390-A99B-94565069F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871" y="2827419"/>
            <a:ext cx="5029200" cy="3227626"/>
          </a:xfrm>
        </p:spPr>
        <p:txBody>
          <a:bodyPr anchor="ctr">
            <a:normAutofit/>
          </a:bodyPr>
          <a:lstStyle/>
          <a:p>
            <a:r>
              <a:rPr lang="it-IT" sz="1800" dirty="0">
                <a:solidFill>
                  <a:schemeClr val="tx2"/>
                </a:solidFill>
              </a:rPr>
              <a:t>First of </a:t>
            </a:r>
            <a:r>
              <a:rPr lang="it-IT" sz="1800" dirty="0" err="1">
                <a:solidFill>
                  <a:schemeClr val="tx2"/>
                </a:solidFill>
              </a:rPr>
              <a:t>all</a:t>
            </a:r>
            <a:r>
              <a:rPr lang="it-IT" sz="1800" dirty="0">
                <a:solidFill>
                  <a:schemeClr val="tx2"/>
                </a:solidFill>
              </a:rPr>
              <a:t>: </a:t>
            </a:r>
            <a:r>
              <a:rPr lang="it-IT" sz="1800" dirty="0" err="1">
                <a:solidFill>
                  <a:schemeClr val="tx2"/>
                </a:solidFill>
              </a:rPr>
              <a:t>how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does</a:t>
            </a:r>
            <a:r>
              <a:rPr lang="it-IT" sz="1800" dirty="0">
                <a:solidFill>
                  <a:schemeClr val="tx2"/>
                </a:solidFill>
              </a:rPr>
              <a:t> a pub/sub </a:t>
            </a:r>
            <a:r>
              <a:rPr lang="it-IT" sz="1800" dirty="0" err="1">
                <a:solidFill>
                  <a:schemeClr val="tx2"/>
                </a:solidFill>
              </a:rPr>
              <a:t>paradigm</a:t>
            </a:r>
            <a:r>
              <a:rPr lang="it-IT" sz="1800" dirty="0">
                <a:solidFill>
                  <a:schemeClr val="tx2"/>
                </a:solidFill>
              </a:rPr>
              <a:t> work?</a:t>
            </a:r>
          </a:p>
          <a:p>
            <a:endParaRPr lang="it-IT" sz="1800" dirty="0">
              <a:solidFill>
                <a:schemeClr val="tx2"/>
              </a:solidFill>
            </a:endParaRPr>
          </a:p>
        </p:txBody>
      </p:sp>
      <p:grpSp>
        <p:nvGrpSpPr>
          <p:cNvPr id="34" name="Group 19">
            <a:extLst>
              <a:ext uri="{FF2B5EF4-FFF2-40B4-BE49-F238E27FC236}">
                <a16:creationId xmlns:a16="http://schemas.microsoft.com/office/drawing/2014/main" id="{569E5994-073E-4708-B3E6-43BFED0C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381784" y="4178643"/>
            <a:ext cx="3061444" cy="2297267"/>
            <a:chOff x="-305" y="-1"/>
            <a:chExt cx="3832880" cy="2876136"/>
          </a:xfrm>
        </p:grpSpPr>
        <p:sp>
          <p:nvSpPr>
            <p:cNvPr id="35" name="Freeform: Shape 20">
              <a:extLst>
                <a:ext uri="{FF2B5EF4-FFF2-40B4-BE49-F238E27FC236}">
                  <a16:creationId xmlns:a16="http://schemas.microsoft.com/office/drawing/2014/main" id="{532F818D-9087-4691-AABA-465619A0C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1">
              <a:extLst>
                <a:ext uri="{FF2B5EF4-FFF2-40B4-BE49-F238E27FC236}">
                  <a16:creationId xmlns:a16="http://schemas.microsoft.com/office/drawing/2014/main" id="{68B7668A-5C96-4FB9-BFA9-38094EB8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22">
              <a:extLst>
                <a:ext uri="{FF2B5EF4-FFF2-40B4-BE49-F238E27FC236}">
                  <a16:creationId xmlns:a16="http://schemas.microsoft.com/office/drawing/2014/main" id="{BF4F95BD-8661-4C45-94E3-CF3159BF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23">
              <a:extLst>
                <a:ext uri="{FF2B5EF4-FFF2-40B4-BE49-F238E27FC236}">
                  <a16:creationId xmlns:a16="http://schemas.microsoft.com/office/drawing/2014/main" id="{E85BBF8A-E2FB-47F6-A60F-4FB855D50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Immagine 10" descr="Visual representation of a pub/sub paradigm.">
            <a:extLst>
              <a:ext uri="{FF2B5EF4-FFF2-40B4-BE49-F238E27FC236}">
                <a16:creationId xmlns:a16="http://schemas.microsoft.com/office/drawing/2014/main" id="{EF4B6F99-4C0A-FE29-595F-02A1FE4D3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1" y="3176738"/>
            <a:ext cx="4954693" cy="2539280"/>
          </a:xfrm>
          <a:prstGeom prst="rect">
            <a:avLst/>
          </a:prstGeom>
        </p:spPr>
      </p:pic>
      <p:grpSp>
        <p:nvGrpSpPr>
          <p:cNvPr id="39" name="Group 25">
            <a:extLst>
              <a:ext uri="{FF2B5EF4-FFF2-40B4-BE49-F238E27FC236}">
                <a16:creationId xmlns:a16="http://schemas.microsoft.com/office/drawing/2014/main" id="{DD81D498-EAA8-40F3-8230-AE4DEDA38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906190" y="0"/>
            <a:ext cx="3282247" cy="2837712"/>
            <a:chOff x="-305" y="-4155"/>
            <a:chExt cx="2514948" cy="2174333"/>
          </a:xfrm>
        </p:grpSpPr>
        <p:sp>
          <p:nvSpPr>
            <p:cNvPr id="40" name="Freeform: Shape 26">
              <a:extLst>
                <a:ext uri="{FF2B5EF4-FFF2-40B4-BE49-F238E27FC236}">
                  <a16:creationId xmlns:a16="http://schemas.microsoft.com/office/drawing/2014/main" id="{262F2402-5879-41A3-ACEC-6D2811BA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27">
              <a:extLst>
                <a:ext uri="{FF2B5EF4-FFF2-40B4-BE49-F238E27FC236}">
                  <a16:creationId xmlns:a16="http://schemas.microsoft.com/office/drawing/2014/main" id="{BBD41895-A230-4959-97BA-80F51638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28">
              <a:extLst>
                <a:ext uri="{FF2B5EF4-FFF2-40B4-BE49-F238E27FC236}">
                  <a16:creationId xmlns:a16="http://schemas.microsoft.com/office/drawing/2014/main" id="{E670BD54-10A6-4092-9E32-647B2F870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29">
              <a:extLst>
                <a:ext uri="{FF2B5EF4-FFF2-40B4-BE49-F238E27FC236}">
                  <a16:creationId xmlns:a16="http://schemas.microsoft.com/office/drawing/2014/main" id="{1C2B9A82-4826-4BF4-A16E-0B005FE76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6059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B92FAF7-0AD3-4B47-9111-D0E9CD79E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A77139-BADB-4B2C-BD41-B67A4D37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AC7B25D-E1A6-459A-B45A-1912B0CD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0A7C7E-00F6-490C-A8E7-5167EA6A4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2E166FC5-8F23-41C3-879A-BFF8D5B70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5C727C6A-DB0B-482E-B0E4-4F035FC0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86ABD8-AB9F-46F2-A7D9-36F1F733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B26E49F-E19A-487B-A8A4-A26128CF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E67742-7BE5-458C-BC8D-9EE855763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B03BE98-6C07-41CD-ACA9-5244A3DA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13CCE92-2C5E-48BC-9713-FBEEDBAE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2F3E947-CDC7-A357-E2A0-E9DAB189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5145024" cy="1454051"/>
          </a:xfrm>
        </p:spPr>
        <p:txBody>
          <a:bodyPr anchor="b">
            <a:normAutofit/>
          </a:bodyPr>
          <a:lstStyle/>
          <a:p>
            <a:r>
              <a:rPr lang="it-IT" sz="3600">
                <a:solidFill>
                  <a:schemeClr val="tx2"/>
                </a:solidFill>
              </a:rPr>
              <a:t>Rabbitmq vs Zeromq</a:t>
            </a:r>
          </a:p>
        </p:txBody>
      </p:sp>
      <p:pic>
        <p:nvPicPr>
          <p:cNvPr id="5" name="Immagine 4" descr="Rabbitmq logo">
            <a:extLst>
              <a:ext uri="{FF2B5EF4-FFF2-40B4-BE49-F238E27FC236}">
                <a16:creationId xmlns:a16="http://schemas.microsoft.com/office/drawing/2014/main" id="{9CAF15A3-E288-8703-BABC-5D12D110C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853" y="390174"/>
            <a:ext cx="2629372" cy="148033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9F9FC7-77F6-3B03-E5E5-51F05FDB8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553909" cy="3639289"/>
          </a:xfrm>
        </p:spPr>
        <p:txBody>
          <a:bodyPr anchor="ctr">
            <a:normAutofit/>
          </a:bodyPr>
          <a:lstStyle/>
          <a:p>
            <a:r>
              <a:rPr lang="it-IT" sz="1800" dirty="0" err="1">
                <a:solidFill>
                  <a:schemeClr val="tx2"/>
                </a:solidFill>
              </a:rPr>
              <a:t>Rabbimq</a:t>
            </a:r>
            <a:r>
              <a:rPr lang="it-IT" sz="1800" dirty="0">
                <a:solidFill>
                  <a:schemeClr val="tx2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it-IT" sz="1800" dirty="0" err="1">
                <a:solidFill>
                  <a:schemeClr val="tx2"/>
                </a:solidFill>
              </a:rPr>
              <a:t>Uses</a:t>
            </a:r>
            <a:r>
              <a:rPr lang="it-IT" sz="1800" dirty="0">
                <a:solidFill>
                  <a:schemeClr val="tx2"/>
                </a:solidFill>
              </a:rPr>
              <a:t> a broker</a:t>
            </a:r>
          </a:p>
          <a:p>
            <a:pPr marL="457200" lvl="1" indent="0">
              <a:buNone/>
            </a:pPr>
            <a:r>
              <a:rPr lang="it-IT" sz="1800" dirty="0">
                <a:solidFill>
                  <a:schemeClr val="tx2"/>
                </a:solidFill>
              </a:rPr>
              <a:t>Topic </a:t>
            </a:r>
            <a:r>
              <a:rPr lang="it-IT" sz="1800" dirty="0" err="1">
                <a:solidFill>
                  <a:schemeClr val="tx2"/>
                </a:solidFill>
              </a:rPr>
              <a:t>based</a:t>
            </a:r>
            <a:r>
              <a:rPr lang="it-IT" sz="1800" dirty="0">
                <a:solidFill>
                  <a:schemeClr val="tx2"/>
                </a:solidFill>
              </a:rPr>
              <a:t> and </a:t>
            </a:r>
            <a:r>
              <a:rPr lang="it-IT" sz="1800" dirty="0" err="1">
                <a:solidFill>
                  <a:schemeClr val="tx2"/>
                </a:solidFill>
              </a:rPr>
              <a:t>fanout</a:t>
            </a:r>
            <a:endParaRPr lang="it-IT" sz="1800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it-IT" sz="1800" u="sng" dirty="0">
              <a:solidFill>
                <a:schemeClr val="tx2"/>
              </a:solidFill>
            </a:endParaRPr>
          </a:p>
          <a:p>
            <a:r>
              <a:rPr lang="it-IT" sz="1800" dirty="0" err="1">
                <a:solidFill>
                  <a:schemeClr val="tx2"/>
                </a:solidFill>
              </a:rPr>
              <a:t>Zeromq</a:t>
            </a:r>
            <a:r>
              <a:rPr lang="it-IT" sz="1800" dirty="0">
                <a:solidFill>
                  <a:schemeClr val="tx2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it-IT" sz="1800" dirty="0" err="1">
                <a:solidFill>
                  <a:schemeClr val="tx2"/>
                </a:solidFill>
              </a:rPr>
              <a:t>Brokerless</a:t>
            </a:r>
            <a:r>
              <a:rPr lang="it-IT" sz="1800" dirty="0">
                <a:solidFill>
                  <a:schemeClr val="tx2"/>
                </a:solidFill>
              </a:rPr>
              <a:t>!!!</a:t>
            </a:r>
          </a:p>
          <a:p>
            <a:pPr marL="457200" lvl="1" indent="0">
              <a:buNone/>
            </a:pPr>
            <a:r>
              <a:rPr lang="it-IT" sz="1800" dirty="0" err="1">
                <a:solidFill>
                  <a:schemeClr val="tx2"/>
                </a:solidFill>
              </a:rPr>
              <a:t>Only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topic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based</a:t>
            </a:r>
            <a:endParaRPr lang="it-IT" sz="1800" dirty="0">
              <a:solidFill>
                <a:schemeClr val="tx2"/>
              </a:solidFill>
            </a:endParaRPr>
          </a:p>
        </p:txBody>
      </p:sp>
      <p:pic>
        <p:nvPicPr>
          <p:cNvPr id="7" name="Immagine 6" descr="Zeromq logo">
            <a:extLst>
              <a:ext uri="{FF2B5EF4-FFF2-40B4-BE49-F238E27FC236}">
                <a16:creationId xmlns:a16="http://schemas.microsoft.com/office/drawing/2014/main" id="{15544FED-D543-EDBB-91B1-4879A89D1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955" y="3949521"/>
            <a:ext cx="2871905" cy="18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5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18D3976-76DB-A919-FD46-FB03BFFC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tx2"/>
                </a:solidFill>
              </a:rPr>
              <a:t>How did we use them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EA6FC3-6756-AC65-7E17-C37E2ADBC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it-IT" sz="1800">
                <a:solidFill>
                  <a:schemeClr val="tx2"/>
                </a:solidFill>
              </a:rPr>
              <a:t>For Rabbitmq we created a cluster of nodes</a:t>
            </a:r>
          </a:p>
          <a:p>
            <a:r>
              <a:rPr lang="it-IT" sz="1800">
                <a:solidFill>
                  <a:schemeClr val="tx2"/>
                </a:solidFill>
              </a:rPr>
              <a:t>For Zeromq we created multiple instances of the ‘‘broker’’</a:t>
            </a:r>
          </a:p>
        </p:txBody>
      </p:sp>
    </p:spTree>
    <p:extLst>
      <p:ext uri="{BB962C8B-B14F-4D97-AF65-F5344CB8AC3E}">
        <p14:creationId xmlns:p14="http://schemas.microsoft.com/office/powerpoint/2010/main" val="236999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0F6BFB2-CC3A-8F8C-1E84-60E99E4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tx2"/>
                </a:solidFill>
              </a:rPr>
              <a:t>Our implementation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BBEF30-F5D2-EDCB-5E34-1C383EC91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it-IT" sz="1800" dirty="0" err="1">
                <a:solidFill>
                  <a:schemeClr val="tx2"/>
                </a:solidFill>
              </a:rPr>
              <a:t>Creates</a:t>
            </a:r>
            <a:r>
              <a:rPr lang="it-IT" sz="1800" dirty="0">
                <a:solidFill>
                  <a:schemeClr val="tx2"/>
                </a:solidFill>
              </a:rPr>
              <a:t> pubs/</a:t>
            </a:r>
            <a:r>
              <a:rPr lang="it-IT" sz="1800" dirty="0" err="1">
                <a:solidFill>
                  <a:schemeClr val="tx2"/>
                </a:solidFill>
              </a:rPr>
              <a:t>subs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as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indipendent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processes</a:t>
            </a:r>
            <a:r>
              <a:rPr lang="it-IT" sz="1800" dirty="0">
                <a:solidFill>
                  <a:schemeClr val="tx2"/>
                </a:solidFill>
              </a:rPr>
              <a:t> in </a:t>
            </a:r>
            <a:r>
              <a:rPr lang="it-IT" sz="1800" dirty="0" err="1">
                <a:solidFill>
                  <a:schemeClr val="tx2"/>
                </a:solidFill>
              </a:rPr>
              <a:t>both</a:t>
            </a:r>
            <a:r>
              <a:rPr lang="it-IT" sz="1800" dirty="0">
                <a:solidFill>
                  <a:schemeClr val="tx2"/>
                </a:solidFill>
              </a:rPr>
              <a:t> a </a:t>
            </a:r>
            <a:r>
              <a:rPr lang="it-IT" sz="1800" dirty="0" err="1">
                <a:solidFill>
                  <a:schemeClr val="tx2"/>
                </a:solidFill>
              </a:rPr>
              <a:t>statical</a:t>
            </a:r>
            <a:r>
              <a:rPr lang="it-IT" sz="1800" dirty="0">
                <a:solidFill>
                  <a:schemeClr val="tx2"/>
                </a:solidFill>
              </a:rPr>
              <a:t> and a </a:t>
            </a:r>
            <a:r>
              <a:rPr lang="it-IT" sz="1800" dirty="0" err="1">
                <a:solidFill>
                  <a:schemeClr val="tx2"/>
                </a:solidFill>
              </a:rPr>
              <a:t>dynamical</a:t>
            </a:r>
            <a:r>
              <a:rPr lang="it-IT" sz="1800" dirty="0">
                <a:solidFill>
                  <a:schemeClr val="tx2"/>
                </a:solidFill>
              </a:rPr>
              <a:t> way</a:t>
            </a:r>
          </a:p>
          <a:p>
            <a:r>
              <a:rPr lang="it-IT" sz="1800" dirty="0" err="1">
                <a:solidFill>
                  <a:schemeClr val="tx2"/>
                </a:solidFill>
              </a:rPr>
              <a:t>Closes</a:t>
            </a:r>
            <a:r>
              <a:rPr lang="it-IT" sz="1800" dirty="0">
                <a:solidFill>
                  <a:schemeClr val="tx2"/>
                </a:solidFill>
              </a:rPr>
              <a:t> pubs/</a:t>
            </a:r>
            <a:r>
              <a:rPr lang="it-IT" sz="1800" dirty="0" err="1">
                <a:solidFill>
                  <a:schemeClr val="tx2"/>
                </a:solidFill>
              </a:rPr>
              <a:t>subs</a:t>
            </a:r>
            <a:r>
              <a:rPr lang="it-IT" sz="1800" dirty="0">
                <a:solidFill>
                  <a:schemeClr val="tx2"/>
                </a:solidFill>
              </a:rPr>
              <a:t> in the </a:t>
            </a:r>
            <a:r>
              <a:rPr lang="it-IT" sz="1800" dirty="0" err="1">
                <a:solidFill>
                  <a:schemeClr val="tx2"/>
                </a:solidFill>
              </a:rPr>
              <a:t>same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manner</a:t>
            </a:r>
            <a:endParaRPr lang="it-IT" sz="1800" dirty="0">
              <a:solidFill>
                <a:schemeClr val="tx2"/>
              </a:solidFill>
            </a:endParaRPr>
          </a:p>
          <a:p>
            <a:r>
              <a:rPr lang="it-IT" sz="1800" dirty="0" err="1">
                <a:solidFill>
                  <a:schemeClr val="tx2"/>
                </a:solidFill>
              </a:rPr>
              <a:t>Simulates</a:t>
            </a:r>
            <a:r>
              <a:rPr lang="it-IT" sz="1800" dirty="0">
                <a:solidFill>
                  <a:schemeClr val="tx2"/>
                </a:solidFill>
              </a:rPr>
              <a:t> crashes of pubs/</a:t>
            </a:r>
            <a:r>
              <a:rPr lang="it-IT" sz="1800" dirty="0" err="1">
                <a:solidFill>
                  <a:schemeClr val="tx2"/>
                </a:solidFill>
              </a:rPr>
              <a:t>subs</a:t>
            </a:r>
            <a:r>
              <a:rPr lang="it-IT" sz="1800" dirty="0">
                <a:solidFill>
                  <a:schemeClr val="tx2"/>
                </a:solidFill>
              </a:rPr>
              <a:t> and </a:t>
            </a:r>
            <a:r>
              <a:rPr lang="it-IT" sz="1800" dirty="0" err="1">
                <a:solidFill>
                  <a:schemeClr val="tx2"/>
                </a:solidFill>
              </a:rPr>
              <a:t>Rabbitmq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nodes</a:t>
            </a:r>
            <a:r>
              <a:rPr lang="it-IT" sz="1800" dirty="0">
                <a:solidFill>
                  <a:schemeClr val="tx2"/>
                </a:solidFill>
              </a:rPr>
              <a:t> or </a:t>
            </a:r>
            <a:r>
              <a:rPr lang="it-IT" sz="1800" dirty="0" err="1">
                <a:solidFill>
                  <a:schemeClr val="tx2"/>
                </a:solidFill>
              </a:rPr>
              <a:t>Zeromq</a:t>
            </a:r>
            <a:r>
              <a:rPr lang="it-IT" sz="1800" dirty="0">
                <a:solidFill>
                  <a:schemeClr val="tx2"/>
                </a:solidFill>
              </a:rPr>
              <a:t> brokers</a:t>
            </a:r>
          </a:p>
          <a:p>
            <a:endParaRPr lang="it-IT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47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E04AE8-BCF0-DD57-EE4B-A47D23C32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Now let’s look at some numbers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F1114FB-2A6F-638C-B85F-EBB1A7F997C4}"/>
              </a:ext>
            </a:extLst>
          </p:cNvPr>
          <p:cNvSpPr txBox="1"/>
          <p:nvPr/>
        </p:nvSpPr>
        <p:spPr>
          <a:xfrm>
            <a:off x="6355641" y="338328"/>
            <a:ext cx="5029200" cy="1773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Case examinated: </a:t>
            </a:r>
            <a:r>
              <a:rPr lang="en-US" dirty="0">
                <a:solidFill>
                  <a:schemeClr val="tx2"/>
                </a:solidFill>
              </a:rPr>
              <a:t>7 pubs and 7 subs where there’s no creation or closure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TO NOTICE: the only difference is in the latencies!</a:t>
            </a:r>
          </a:p>
        </p:txBody>
      </p:sp>
      <p:pic>
        <p:nvPicPr>
          <p:cNvPr id="12" name="Immagine 11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8B895FA0-0FF2-B579-7594-2098EC1F0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061" y="3185237"/>
            <a:ext cx="5166360" cy="2363609"/>
          </a:xfrm>
          <a:prstGeom prst="rect">
            <a:avLst/>
          </a:prstGeom>
        </p:spPr>
      </p:pic>
      <p:pic>
        <p:nvPicPr>
          <p:cNvPr id="10" name="Immagine 9" descr="Immagine che contiene testo, schermata, Carattere, diagramma&#10;&#10;Descrizione generata automaticamente">
            <a:extLst>
              <a:ext uri="{FF2B5EF4-FFF2-40B4-BE49-F238E27FC236}">
                <a16:creationId xmlns:a16="http://schemas.microsoft.com/office/drawing/2014/main" id="{D29A08F4-3C74-4A0A-C6D1-A1FF107AA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8" y="3223985"/>
            <a:ext cx="5166360" cy="232486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2E70B9-BB59-C0D8-7209-15795BDDC97E}"/>
              </a:ext>
            </a:extLst>
          </p:cNvPr>
          <p:cNvSpPr txBox="1"/>
          <p:nvPr/>
        </p:nvSpPr>
        <p:spPr>
          <a:xfrm>
            <a:off x="1079631" y="6163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2379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3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31" name="Freeform: Shape 24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25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47D9DF1-4207-6624-44D4-5848327A07C8}"/>
              </a:ext>
            </a:extLst>
          </p:cNvPr>
          <p:cNvSpPr txBox="1"/>
          <p:nvPr/>
        </p:nvSpPr>
        <p:spPr>
          <a:xfrm>
            <a:off x="6355641" y="338328"/>
            <a:ext cx="5029200" cy="1773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Case </a:t>
            </a:r>
            <a:r>
              <a:rPr lang="en-US" dirty="0" err="1">
                <a:solidFill>
                  <a:schemeClr val="tx2"/>
                </a:solidFill>
              </a:rPr>
              <a:t>examinated</a:t>
            </a:r>
            <a:r>
              <a:rPr lang="en-US" dirty="0">
                <a:solidFill>
                  <a:schemeClr val="tx2"/>
                </a:solidFill>
              </a:rPr>
              <a:t>: 7 pubs and 7 subs by default, but they can be closed and created</a:t>
            </a:r>
          </a:p>
        </p:txBody>
      </p:sp>
      <p:pic>
        <p:nvPicPr>
          <p:cNvPr id="15" name="Immagine 14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82F4547C-7602-0E89-9DFB-65B44ED4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489" y="3309785"/>
            <a:ext cx="5166360" cy="2350693"/>
          </a:xfrm>
          <a:prstGeom prst="rect">
            <a:avLst/>
          </a:prstGeom>
        </p:spPr>
      </p:pic>
      <p:pic>
        <p:nvPicPr>
          <p:cNvPr id="13" name="Segnaposto contenuto 12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463FD371-EFE6-9514-5D65-7F2B89FE0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65" y="3309785"/>
            <a:ext cx="5166360" cy="232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68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502EB63-2495-D4BD-60BF-480291DB228B}"/>
              </a:ext>
            </a:extLst>
          </p:cNvPr>
          <p:cNvSpPr txBox="1"/>
          <p:nvPr/>
        </p:nvSpPr>
        <p:spPr>
          <a:xfrm>
            <a:off x="6355641" y="338328"/>
            <a:ext cx="5029200" cy="1773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Case </a:t>
            </a:r>
            <a:r>
              <a:rPr lang="en-US" dirty="0" err="1">
                <a:solidFill>
                  <a:schemeClr val="tx2"/>
                </a:solidFill>
              </a:rPr>
              <a:t>examinated</a:t>
            </a:r>
            <a:r>
              <a:rPr lang="en-US" dirty="0">
                <a:solidFill>
                  <a:schemeClr val="tx2"/>
                </a:solidFill>
              </a:rPr>
              <a:t>: 7 pubs and 7 subs by default, but they can be closed and created and 2 out of 3 brokers crash during the execution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TO NOTICE: in this case there is a total of 6 message lost in the </a:t>
            </a:r>
            <a:r>
              <a:rPr lang="en-US" dirty="0" err="1">
                <a:solidFill>
                  <a:schemeClr val="tx2"/>
                </a:solidFill>
              </a:rPr>
              <a:t>Rabbitmq</a:t>
            </a:r>
            <a:r>
              <a:rPr lang="en-US" dirty="0">
                <a:solidFill>
                  <a:schemeClr val="tx2"/>
                </a:solidFill>
              </a:rPr>
              <a:t> setup, while 0 losses in </a:t>
            </a:r>
            <a:r>
              <a:rPr lang="en-US" dirty="0" err="1">
                <a:solidFill>
                  <a:schemeClr val="tx2"/>
                </a:solidFill>
              </a:rPr>
              <a:t>Zeromq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Segnaposto contenuto 4" descr="Immagine che contiene testo, schermata, Carattere, diagramma&#10;&#10;Descrizione generata automaticamente">
            <a:extLst>
              <a:ext uri="{FF2B5EF4-FFF2-40B4-BE49-F238E27FC236}">
                <a16:creationId xmlns:a16="http://schemas.microsoft.com/office/drawing/2014/main" id="{403A7B9F-DDBF-E4C1-42D6-5517F7178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99" y="3543047"/>
            <a:ext cx="5166360" cy="2337777"/>
          </a:xfrm>
          <a:prstGeom prst="rect">
            <a:avLst/>
          </a:prstGeom>
        </p:spPr>
      </p:pic>
      <p:pic>
        <p:nvPicPr>
          <p:cNvPr id="7" name="Immagine 6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6D6C828B-2514-9CFE-0349-F4BA7BD70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641" y="3549505"/>
            <a:ext cx="5166360" cy="232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2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F9423DF-5561-3551-1FD7-299094449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sz="3600" dirty="0" err="1">
                <a:solidFill>
                  <a:schemeClr val="tx2"/>
                </a:solidFill>
              </a:rPr>
              <a:t>Conclusions</a:t>
            </a:r>
            <a:r>
              <a:rPr lang="it-IT" sz="3600" dirty="0">
                <a:solidFill>
                  <a:schemeClr val="tx2"/>
                </a:solidFill>
              </a:rPr>
              <a:t>: </a:t>
            </a:r>
            <a:r>
              <a:rPr lang="it-IT" sz="3600" dirty="0" err="1">
                <a:solidFill>
                  <a:schemeClr val="tx2"/>
                </a:solidFill>
              </a:rPr>
              <a:t>which</a:t>
            </a:r>
            <a:r>
              <a:rPr lang="it-IT" sz="3600" dirty="0">
                <a:solidFill>
                  <a:schemeClr val="tx2"/>
                </a:solidFill>
              </a:rPr>
              <a:t> one </a:t>
            </a:r>
            <a:r>
              <a:rPr lang="it-IT" sz="3600" dirty="0" err="1">
                <a:solidFill>
                  <a:schemeClr val="tx2"/>
                </a:solidFill>
              </a:rPr>
              <a:t>is</a:t>
            </a:r>
            <a:r>
              <a:rPr lang="it-IT" sz="3600" dirty="0">
                <a:solidFill>
                  <a:schemeClr val="tx2"/>
                </a:solidFill>
              </a:rPr>
              <a:t> </a:t>
            </a:r>
            <a:r>
              <a:rPr lang="it-IT" sz="3600" dirty="0" err="1">
                <a:solidFill>
                  <a:schemeClr val="tx2"/>
                </a:solidFill>
              </a:rPr>
              <a:t>better</a:t>
            </a:r>
            <a:r>
              <a:rPr lang="it-IT" sz="360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AE6D7386-49EC-4A60-B345-4475FD6A4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11D5A0-E554-E41C-CDD8-DF993BA72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800" dirty="0" err="1">
                <a:solidFill>
                  <a:schemeClr val="tx2"/>
                </a:solidFill>
              </a:rPr>
              <a:t>Well</a:t>
            </a:r>
            <a:r>
              <a:rPr lang="it-IT" sz="1800" dirty="0">
                <a:solidFill>
                  <a:schemeClr val="tx2"/>
                </a:solidFill>
              </a:rPr>
              <a:t>, </a:t>
            </a:r>
            <a:r>
              <a:rPr lang="it-IT" sz="1800" dirty="0" err="1">
                <a:solidFill>
                  <a:schemeClr val="tx2"/>
                </a:solidFill>
              </a:rPr>
              <a:t>it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depends</a:t>
            </a:r>
            <a:r>
              <a:rPr lang="it-IT" sz="1800" dirty="0">
                <a:solidFill>
                  <a:schemeClr val="tx2"/>
                </a:solidFill>
              </a:rPr>
              <a:t>:</a:t>
            </a:r>
          </a:p>
          <a:p>
            <a:r>
              <a:rPr lang="it-IT" sz="1800" dirty="0" err="1">
                <a:solidFill>
                  <a:schemeClr val="tx2"/>
                </a:solidFill>
              </a:rPr>
              <a:t>Rabbitmq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has</a:t>
            </a:r>
            <a:r>
              <a:rPr lang="it-IT" sz="1800" dirty="0">
                <a:solidFill>
                  <a:schemeClr val="tx2"/>
                </a:solidFill>
              </a:rPr>
              <a:t> more </a:t>
            </a:r>
            <a:r>
              <a:rPr lang="it-IT" sz="1800" dirty="0" err="1">
                <a:solidFill>
                  <a:schemeClr val="tx2"/>
                </a:solidFill>
              </a:rPr>
              <a:t>functionalities</a:t>
            </a:r>
            <a:r>
              <a:rPr lang="it-IT" sz="1800" dirty="0">
                <a:solidFill>
                  <a:schemeClr val="tx2"/>
                </a:solidFill>
              </a:rPr>
              <a:t> and </a:t>
            </a:r>
            <a:r>
              <a:rPr lang="it-IT" sz="1800" dirty="0" err="1">
                <a:solidFill>
                  <a:schemeClr val="tx2"/>
                </a:solidFill>
              </a:rPr>
              <a:t>better</a:t>
            </a:r>
            <a:r>
              <a:rPr lang="it-IT" sz="1800" dirty="0">
                <a:solidFill>
                  <a:schemeClr val="tx2"/>
                </a:solidFill>
              </a:rPr>
              <a:t> monitoring</a:t>
            </a:r>
          </a:p>
          <a:p>
            <a:r>
              <a:rPr lang="it-IT" sz="1800" dirty="0" err="1">
                <a:solidFill>
                  <a:schemeClr val="tx2"/>
                </a:solidFill>
              </a:rPr>
              <a:t>Zeromq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has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better</a:t>
            </a:r>
            <a:r>
              <a:rPr lang="it-IT" sz="1800" dirty="0">
                <a:solidFill>
                  <a:schemeClr val="tx2"/>
                </a:solidFill>
              </a:rPr>
              <a:t> performances, </a:t>
            </a:r>
            <a:r>
              <a:rPr lang="it-IT" sz="1800" dirty="0" err="1">
                <a:solidFill>
                  <a:schemeClr val="tx2"/>
                </a:solidFill>
              </a:rPr>
              <a:t>but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there’s</a:t>
            </a:r>
            <a:r>
              <a:rPr lang="it-IT" sz="1800" dirty="0">
                <a:solidFill>
                  <a:schemeClr val="tx2"/>
                </a:solidFill>
              </a:rPr>
              <a:t> a big trade-off </a:t>
            </a:r>
            <a:r>
              <a:rPr lang="it-IT" sz="1800" dirty="0" err="1">
                <a:solidFill>
                  <a:schemeClr val="tx2"/>
                </a:solidFill>
              </a:rPr>
              <a:t>between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availability</a:t>
            </a:r>
            <a:r>
              <a:rPr lang="it-IT" sz="1800" dirty="0">
                <a:solidFill>
                  <a:schemeClr val="tx2"/>
                </a:solidFill>
              </a:rPr>
              <a:t> and overhead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534107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272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di Office</vt:lpstr>
      <vt:lpstr>Dependability evaluation of two solutions implementing a publisher-subscriber primitive</vt:lpstr>
      <vt:lpstr>The task</vt:lpstr>
      <vt:lpstr>What is publisher-subscriber primitive</vt:lpstr>
      <vt:lpstr>Rabbitmq vs Zeromq</vt:lpstr>
      <vt:lpstr>How did we use them</vt:lpstr>
      <vt:lpstr>Our implementation</vt:lpstr>
      <vt:lpstr>Now let’s look at some numbers</vt:lpstr>
      <vt:lpstr>Presentazione standard di PowerPoint</vt:lpstr>
      <vt:lpstr>Presentazione standard di PowerPoint</vt:lpstr>
      <vt:lpstr>Conclusions: which one is better?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Andrei Mai Mihai</dc:creator>
  <cp:lastModifiedBy>Cristian Andrei Mai Mihai</cp:lastModifiedBy>
  <cp:revision>9</cp:revision>
  <dcterms:created xsi:type="dcterms:W3CDTF">2024-09-13T09:33:16Z</dcterms:created>
  <dcterms:modified xsi:type="dcterms:W3CDTF">2024-09-13T16:21:45Z</dcterms:modified>
</cp:coreProperties>
</file>